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44FA08-7ECF-400B-93EF-9CB7D4C4B11B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B1F13F-5382-442F-A164-F451939F40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4855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只看前一半预计两三分钟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1F13F-5382-442F-A164-F451939F409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132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简单介绍，略过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1F13F-5382-442F-A164-F451939F409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13539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数据为</a:t>
            </a:r>
            <a:r>
              <a:rPr lang="en-US" altLang="zh-CN" dirty="0"/>
              <a:t>3</a:t>
            </a:r>
            <a:r>
              <a:rPr lang="zh-CN" altLang="en-US" dirty="0"/>
              <a:t>月，</a:t>
            </a:r>
            <a:r>
              <a:rPr lang="en-US" altLang="zh-CN" dirty="0"/>
              <a:t>2026</a:t>
            </a:r>
            <a:r>
              <a:rPr lang="zh-CN" altLang="en-US" dirty="0"/>
              <a:t>年</a:t>
            </a:r>
            <a:r>
              <a:rPr lang="en-US" altLang="zh-CN" dirty="0"/>
              <a:t>8</a:t>
            </a:r>
            <a:r>
              <a:rPr lang="zh-CN" altLang="en-US" dirty="0"/>
              <a:t>月成功率已经</a:t>
            </a:r>
            <a:r>
              <a:rPr lang="en-US" altLang="zh-CN" dirty="0"/>
              <a:t>98%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1F13F-5382-442F-A164-F451939F409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6625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2AB2-00E2-4355-AD3B-8C77BF687EE7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C6320-5D33-44F2-9A40-03DD4EDCA1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3548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2AB2-00E2-4355-AD3B-8C77BF687EE7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C6320-5D33-44F2-9A40-03DD4EDCA1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9980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2AB2-00E2-4355-AD3B-8C77BF687EE7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C6320-5D33-44F2-9A40-03DD4EDCA1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7130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2AB2-00E2-4355-AD3B-8C77BF687EE7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C6320-5D33-44F2-9A40-03DD4EDCA1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5844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2AB2-00E2-4355-AD3B-8C77BF687EE7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C6320-5D33-44F2-9A40-03DD4EDCA1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6987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2AB2-00E2-4355-AD3B-8C77BF687EE7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C6320-5D33-44F2-9A40-03DD4EDCA1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80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2AB2-00E2-4355-AD3B-8C77BF687EE7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C6320-5D33-44F2-9A40-03DD4EDCA1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872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2AB2-00E2-4355-AD3B-8C77BF687EE7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C6320-5D33-44F2-9A40-03DD4EDCA1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489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2AB2-00E2-4355-AD3B-8C77BF687EE7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C6320-5D33-44F2-9A40-03DD4EDCA1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6995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2AB2-00E2-4355-AD3B-8C77BF687EE7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C6320-5D33-44F2-9A40-03DD4EDCA1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056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2AB2-00E2-4355-AD3B-8C77BF687EE7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C6320-5D33-44F2-9A40-03DD4EDCA1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2302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295E2AB2-00E2-4355-AD3B-8C77BF687EE7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1CCC6320-5D33-44F2-9A40-03DD4EDCA1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036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libili.com/video/BV1G2aH6PEnB/?spm_id_from=333.337.search-card.all.click&amp;vd_source=6d0b919cdff232fd84b325fcf5d5ed97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23B77B-256A-A953-B80E-C5F37CD258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深度学习</a:t>
            </a:r>
            <a:br>
              <a:rPr lang="en-US" altLang="zh-CN" dirty="0"/>
            </a:br>
            <a:r>
              <a:rPr lang="zh-CN" altLang="en-US" dirty="0"/>
              <a:t>驱动的机器人革命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6E84C13-9938-4156-6E0F-148CB8EC71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机协内训</a:t>
            </a:r>
          </a:p>
        </p:txBody>
      </p:sp>
    </p:spTree>
    <p:extLst>
      <p:ext uri="{BB962C8B-B14F-4D97-AF65-F5344CB8AC3E}">
        <p14:creationId xmlns:p14="http://schemas.microsoft.com/office/powerpoint/2010/main" val="762225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824772-27F6-3E90-571D-94F2799A2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</a:t>
            </a:r>
            <a:br>
              <a:rPr lang="en-US" altLang="zh-CN" dirty="0"/>
            </a:br>
            <a:r>
              <a:rPr lang="zh-CN" altLang="en-US" dirty="0"/>
              <a:t>深度学习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B4C16B-DDA5-C464-B123-DED3D7CC3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966885"/>
            <a:ext cx="7315200" cy="1756262"/>
          </a:xfrm>
        </p:spPr>
        <p:txBody>
          <a:bodyPr>
            <a:normAutofit fontScale="92500"/>
          </a:bodyPr>
          <a:lstStyle/>
          <a:p>
            <a:pPr lvl="0"/>
            <a:r>
              <a:rPr lang="zh-CN" altLang="zh-CN" sz="2800" dirty="0"/>
              <a:t>基于多层神经网络的机器学习方法，通过逐层抽象自动从数据中提取特征，无需人工设计。</a:t>
            </a:r>
          </a:p>
          <a:p>
            <a:pPr lvl="0"/>
            <a:r>
              <a:rPr lang="zh-CN" altLang="zh-CN" sz="2800" dirty="0"/>
              <a:t>深度学习的核心是</a:t>
            </a:r>
            <a:r>
              <a:rPr lang="zh-CN" altLang="en-US" sz="2800" dirty="0"/>
              <a:t>“</a:t>
            </a:r>
            <a:r>
              <a:rPr lang="zh-CN" altLang="zh-CN" sz="2800" dirty="0"/>
              <a:t>表示学习”——把原始像素</a:t>
            </a:r>
            <a:r>
              <a:rPr lang="en-US" altLang="zh-CN" sz="2800" dirty="0"/>
              <a:t>/</a:t>
            </a:r>
            <a:r>
              <a:rPr lang="zh-CN" altLang="zh-CN" sz="2800" dirty="0"/>
              <a:t>信号逐层映射为高层语义特征。</a:t>
            </a:r>
          </a:p>
          <a:p>
            <a:endParaRPr lang="zh-CN" altLang="en-US" sz="2800" dirty="0"/>
          </a:p>
        </p:txBody>
      </p:sp>
      <p:pic>
        <p:nvPicPr>
          <p:cNvPr id="14" name="内容占位符 9">
            <a:extLst>
              <a:ext uri="{FF2B5EF4-FFF2-40B4-BE49-F238E27FC236}">
                <a16:creationId xmlns:a16="http://schemas.microsoft.com/office/drawing/2014/main" id="{067A8768-013E-8177-7CE8-0546B07F3F5B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8479" y="2483890"/>
            <a:ext cx="6005015" cy="3456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24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26AC1B-45E9-3AC0-85AF-4102FE516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</a:t>
            </a:r>
            <a:br>
              <a:rPr lang="en-US" altLang="zh-CN" dirty="0"/>
            </a:br>
            <a:r>
              <a:rPr lang="zh-CN" altLang="en-US" dirty="0"/>
              <a:t>深度学习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6D7303-AD45-CF4A-272C-40E730BA6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258" y="4039737"/>
            <a:ext cx="8174754" cy="2197290"/>
          </a:xfrm>
        </p:spPr>
        <p:txBody>
          <a:bodyPr>
            <a:normAutofit/>
          </a:bodyPr>
          <a:lstStyle/>
          <a:p>
            <a:r>
              <a:rPr lang="zh-CN" altLang="zh-CN" sz="2400" dirty="0">
                <a:hlinkClick r:id="rId3"/>
              </a:rPr>
              <a:t>1个视频给你讲清楚: 机器学习→深度学习→大模型_哔哩哔哩_bilibili</a:t>
            </a:r>
            <a:endParaRPr lang="en-US" altLang="zh-CN" sz="2400" dirty="0"/>
          </a:p>
          <a:p>
            <a:r>
              <a:rPr lang="en-US" altLang="zh-CN" sz="2400" dirty="0"/>
              <a:t>https://www.bilibili.com/video/BV1G2aH6PEnB/?spm_id_from=333.337.search-card.all.click&amp;vd_source=6d0b919cdff232fd84b325fcf5d5ed97</a:t>
            </a:r>
            <a:endParaRPr lang="zh-CN" altLang="en-US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FECB11A-9533-C682-FC08-6F05DE481CE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7920"/>
          <a:stretch>
            <a:fillRect/>
          </a:stretch>
        </p:blipFill>
        <p:spPr>
          <a:xfrm>
            <a:off x="4237630" y="702860"/>
            <a:ext cx="6565961" cy="320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16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7E9CE7-3590-8937-FA19-6C3AA6435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技术支柱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ED49F9-F5BA-F097-8160-968849023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9049" y="864108"/>
            <a:ext cx="7055638" cy="5120640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卷积神经网络 </a:t>
            </a:r>
            <a:r>
              <a:rPr lang="en-US" altLang="zh-CN" sz="3200" b="1" dirty="0"/>
              <a:t>CNN</a:t>
            </a:r>
            <a:r>
              <a:rPr lang="zh-CN" altLang="en-US" sz="3200" b="1" dirty="0"/>
              <a:t>：</a:t>
            </a:r>
            <a:r>
              <a:rPr lang="zh-CN" altLang="en-US" sz="2800" dirty="0"/>
              <a:t>对图像做局部特征提取，从边缘、纹理一路拼到“这是一只杯子”。</a:t>
            </a:r>
            <a:endParaRPr lang="en-US" altLang="zh-CN" sz="3200" dirty="0"/>
          </a:p>
          <a:p>
            <a:r>
              <a:rPr lang="zh-CN" altLang="en-US" sz="3200" b="1" dirty="0"/>
              <a:t>循环神经网络 </a:t>
            </a:r>
            <a:r>
              <a:rPr lang="en-US" altLang="zh-CN" sz="3200" b="1" dirty="0"/>
              <a:t>RNN / LSTM</a:t>
            </a:r>
            <a:r>
              <a:rPr lang="zh-CN" altLang="en-US" sz="3200" b="1" dirty="0"/>
              <a:t>：</a:t>
            </a:r>
            <a:r>
              <a:rPr lang="zh-CN" altLang="en-US" sz="2800" dirty="0"/>
              <a:t>动作、语言都是有时间先后顺序的序列，</a:t>
            </a:r>
            <a:r>
              <a:rPr lang="en-US" altLang="zh-CN" sz="2800" dirty="0"/>
              <a:t>RNN </a:t>
            </a:r>
            <a:r>
              <a:rPr lang="zh-CN" altLang="en-US" sz="2800" dirty="0"/>
              <a:t>家族正是为“记住前文”而生。</a:t>
            </a:r>
            <a:endParaRPr lang="en-US" altLang="zh-CN" sz="2800" dirty="0"/>
          </a:p>
          <a:p>
            <a:r>
              <a:rPr lang="en-US" altLang="zh-CN" sz="3200" b="1" dirty="0"/>
              <a:t>Transformer </a:t>
            </a:r>
            <a:r>
              <a:rPr lang="zh-CN" altLang="en-US" sz="3200" b="1" dirty="0"/>
              <a:t>与注意力机制：</a:t>
            </a:r>
            <a:r>
              <a:rPr lang="en-US" altLang="zh-CN" sz="2800" dirty="0"/>
              <a:t>2017 </a:t>
            </a:r>
            <a:r>
              <a:rPr lang="zh-CN" altLang="en-US" sz="2800" dirty="0"/>
              <a:t>年</a:t>
            </a:r>
            <a:r>
              <a:rPr lang="en-US" altLang="zh-CN" sz="2800" dirty="0"/>
              <a:t>”Attention is All You Need”</a:t>
            </a:r>
            <a:r>
              <a:rPr lang="zh-CN" altLang="en-US" sz="2800" dirty="0"/>
              <a:t>提出，完全抛弃循环结构，靠自注意力实现高度并行与长程建模，是当代大模型的统一基石。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419103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874D93-D2FA-3CD3-4548-371F3B848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深度学习 </a:t>
            </a:r>
            <a:br>
              <a:rPr lang="en-US" altLang="zh-CN" dirty="0"/>
            </a:br>
            <a:r>
              <a:rPr lang="en-US" altLang="zh-CN" dirty="0"/>
              <a:t>+ </a:t>
            </a:r>
            <a:r>
              <a:rPr lang="zh-CN" altLang="en-US" dirty="0"/>
              <a:t>机器人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6346D6-793E-C75D-BB5A-AD83D0AFC1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31433" y="868680"/>
            <a:ext cx="3085622" cy="5120640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传统机器人靠人工写规则，难以应对开放、动态的真实世界；深度学习让机器人从“被编程”走向“自己学”。</a:t>
            </a:r>
          </a:p>
          <a:p>
            <a:r>
              <a:rPr lang="zh-CN" altLang="en-US" sz="2400" dirty="0"/>
              <a:t>过去机器人每动一下都要工程师写死逻辑，换个环境就失灵。深度学习带来范式转变</a:t>
            </a:r>
            <a:r>
              <a:rPr lang="en-US" altLang="zh-CN" sz="2400" dirty="0"/>
              <a:t>——</a:t>
            </a:r>
            <a:r>
              <a:rPr lang="zh-CN" altLang="en-US" sz="2400" dirty="0"/>
              <a:t>让机器从数据里自己学会感知和决策。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3707162-0143-5ED3-4234-C2DCEDB7F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535" y="3324589"/>
            <a:ext cx="4670696" cy="261696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1963B9E-44F9-1995-0E5C-C1A46C9C3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535" y="916447"/>
            <a:ext cx="4636353" cy="2616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805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C13F05-7B46-4B5B-EBC8-EFA5C8A53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应用一：</a:t>
            </a:r>
            <a:br>
              <a:rPr lang="en-US" altLang="zh-CN" dirty="0"/>
            </a:br>
            <a:r>
              <a:rPr lang="zh-CN" altLang="en-US" dirty="0"/>
              <a:t>机器人感知（视觉）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190BE2-5D34-3ECB-CC4A-FD5C2765A3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61087" y="4328386"/>
            <a:ext cx="7336901" cy="1942759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目标检测、位姿估计，让机器人理解场景中”有什么、在哪里”。</a:t>
            </a:r>
          </a:p>
          <a:p>
            <a:r>
              <a:rPr lang="zh-CN" altLang="en-US" sz="2800" dirty="0"/>
              <a:t>一切操作的前提是感知。深度学习让机器人在杂乱场景里也能稳定认出并定位目标物体。</a:t>
            </a:r>
          </a:p>
          <a:p>
            <a:endParaRPr lang="zh-CN" altLang="en-US" sz="2800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83E29BC2-156A-8EA0-26AD-467D7473C74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0" t="17161" r="5789" b="16255"/>
          <a:stretch>
            <a:fillRect/>
          </a:stretch>
        </p:blipFill>
        <p:spPr>
          <a:xfrm>
            <a:off x="3861087" y="696036"/>
            <a:ext cx="7424336" cy="337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38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3CE6BA-0E0F-27B3-F7C5-1CD3806D8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应用二：</a:t>
            </a:r>
            <a:br>
              <a:rPr lang="en-US" altLang="zh-CN" dirty="0"/>
            </a:br>
            <a:r>
              <a:rPr lang="zh-CN" altLang="en-US" dirty="0"/>
              <a:t>抓取与操作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35D3D4-F6F0-8DB2-6CB7-48E8F68BCE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00516" y="3630305"/>
            <a:ext cx="6872876" cy="2777319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端到端策略让机械臂从视觉直接映射到抓取动作；强化学习与触觉</a:t>
            </a:r>
            <a:r>
              <a:rPr lang="en-US" altLang="zh-CN" sz="2400" dirty="0"/>
              <a:t>/</a:t>
            </a:r>
            <a:r>
              <a:rPr lang="zh-CN" altLang="en-US" sz="2400" dirty="0"/>
              <a:t>灵巧手结合提升复杂操作能力。</a:t>
            </a:r>
          </a:p>
          <a:p>
            <a:r>
              <a:rPr lang="zh-CN" altLang="en-US" sz="2400" dirty="0"/>
              <a:t>小米开源 </a:t>
            </a:r>
            <a:r>
              <a:rPr lang="en-US" altLang="zh-CN" sz="2400" dirty="0"/>
              <a:t>VLA </a:t>
            </a:r>
            <a:r>
              <a:rPr lang="zh-CN" altLang="en-US" sz="2400" dirty="0"/>
              <a:t>模型 </a:t>
            </a:r>
            <a:r>
              <a:rPr lang="en-US" altLang="zh-CN" sz="2400" dirty="0"/>
              <a:t>Xiaomi-Robotics-0 </a:t>
            </a:r>
            <a:r>
              <a:rPr lang="zh-CN" altLang="en-US" sz="2400" dirty="0"/>
              <a:t>驱动人形机器人在汽车工厂压铸车间完成自攻螺母安装，连续 </a:t>
            </a:r>
            <a:r>
              <a:rPr lang="en-US" altLang="zh-CN" sz="2400" dirty="0"/>
              <a:t>3 </a:t>
            </a:r>
            <a:r>
              <a:rPr lang="zh-CN" altLang="en-US" sz="2400" dirty="0"/>
              <a:t>小时自主运行、双侧同时安装成功率 </a:t>
            </a:r>
            <a:r>
              <a:rPr lang="en-US" altLang="zh-CN" sz="2400" dirty="0"/>
              <a:t>90.2%</a:t>
            </a:r>
            <a:r>
              <a:rPr lang="zh-CN" altLang="en-US" sz="2400" dirty="0"/>
              <a:t>，满足 </a:t>
            </a:r>
            <a:r>
              <a:rPr lang="en-US" altLang="zh-CN" sz="2400" dirty="0"/>
              <a:t>76 </a:t>
            </a:r>
            <a:r>
              <a:rPr lang="zh-CN" altLang="en-US" sz="2400" dirty="0"/>
              <a:t>秒产线节拍。</a:t>
            </a:r>
          </a:p>
          <a:p>
            <a:endParaRPr lang="zh-CN" altLang="en-US" sz="2400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F49EE744-7700-DAC2-0128-D1ECCF1A355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9172" y="820627"/>
            <a:ext cx="6175564" cy="245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322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E298A3-3087-9720-E831-B1F1D4D3C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应用三：</a:t>
            </a:r>
            <a:br>
              <a:rPr lang="en-US" altLang="zh-CN" dirty="0"/>
            </a:br>
            <a:r>
              <a:rPr lang="zh-CN" altLang="en-US" dirty="0"/>
              <a:t>运动控制与导航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E497CC-C5E9-2D5E-6DCF-D4F177C4FA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7227718" cy="5120640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强化学习让机器人自学步态与机动；端到端感知运动策略绕过显式状态估计。</a:t>
            </a:r>
          </a:p>
          <a:p>
            <a:r>
              <a:rPr lang="zh-CN" altLang="en-US" sz="2800" dirty="0"/>
              <a:t>浙江大学高飞团队发表于 </a:t>
            </a:r>
            <a:r>
              <a:rPr lang="en-US" altLang="zh-CN" sz="2800" dirty="0"/>
              <a:t>Science Robotics 2026 </a:t>
            </a:r>
            <a:r>
              <a:rPr lang="zh-CN" altLang="en-US" sz="2800" dirty="0"/>
              <a:t>的感知运动策略，让四旋翼仅凭机载感知穿越间隙仅 </a:t>
            </a:r>
            <a:r>
              <a:rPr lang="en-US" altLang="zh-CN" sz="2800" dirty="0"/>
              <a:t>5 </a:t>
            </a:r>
            <a:r>
              <a:rPr lang="zh-CN" altLang="en-US" sz="2800" dirty="0"/>
              <a:t>厘米、机身倾斜最高 </a:t>
            </a:r>
            <a:r>
              <a:rPr lang="en-US" altLang="zh-CN" sz="2800" dirty="0"/>
              <a:t>90 </a:t>
            </a:r>
            <a:r>
              <a:rPr lang="zh-CN" altLang="en-US" sz="2800" dirty="0"/>
              <a:t>度的窄缝；另一项 </a:t>
            </a:r>
            <a:r>
              <a:rPr lang="en-US" altLang="zh-CN" sz="2800" dirty="0"/>
              <a:t>IEEE RA-L 2026 </a:t>
            </a:r>
            <a:r>
              <a:rPr lang="zh-CN" altLang="en-US" sz="2800" dirty="0"/>
              <a:t>工作以安全屏蔽强化学习实现丛林中 </a:t>
            </a:r>
            <a:r>
              <a:rPr lang="en-US" altLang="zh-CN" sz="2800" dirty="0"/>
              <a:t>7.5 m/s </a:t>
            </a:r>
            <a:r>
              <a:rPr lang="zh-CN" altLang="en-US" sz="2800" dirty="0"/>
              <a:t>稳健高速飞行。</a:t>
            </a:r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613858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655747-5970-C3C2-2128-B0E24AE17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挑战与展望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E1F2E7-4C72-2ECC-8D46-E4354F6DD55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挑战：真实数据获取成本高、安全与可验证性不足、长程任务与泛化能力有限、算力与能耗约束。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C456955-C6FE-0BF7-FA16-DAA44482EB6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趋势：</a:t>
            </a:r>
            <a:r>
              <a:rPr lang="en-US" altLang="zh-CN" sz="2800" dirty="0"/>
              <a:t>VLA </a:t>
            </a:r>
            <a:r>
              <a:rPr lang="zh-CN" altLang="en-US" sz="2800" dirty="0"/>
              <a:t>与世界模型融合、生成式世界模型自动造数据、端侧实时部署、通用运动控制大模型。</a:t>
            </a:r>
          </a:p>
        </p:txBody>
      </p:sp>
    </p:spTree>
    <p:extLst>
      <p:ext uri="{BB962C8B-B14F-4D97-AF65-F5344CB8AC3E}">
        <p14:creationId xmlns:p14="http://schemas.microsoft.com/office/powerpoint/2010/main" val="1815357517"/>
      </p:ext>
    </p:extLst>
  </p:cSld>
  <p:clrMapOvr>
    <a:masterClrMapping/>
  </p:clrMapOvr>
</p:sld>
</file>

<file path=ppt/theme/theme1.xml><?xml version="1.0" encoding="utf-8"?>
<a:theme xmlns:a="http://schemas.openxmlformats.org/drawingml/2006/main" name="框架">
  <a:themeElements>
    <a:clrScheme name="框架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框架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框架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TM03457475[[fn=框架]]</Template>
  <TotalTime>51</TotalTime>
  <Words>893</Words>
  <Application>Microsoft Office PowerPoint</Application>
  <PresentationFormat>宽屏</PresentationFormat>
  <Paragraphs>33</Paragraphs>
  <Slides>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Corbel</vt:lpstr>
      <vt:lpstr>Wingdings 2</vt:lpstr>
      <vt:lpstr>框架</vt:lpstr>
      <vt:lpstr>深度学习 驱动的机器人革命</vt:lpstr>
      <vt:lpstr>什么是 深度学习</vt:lpstr>
      <vt:lpstr>什么是 深度学习</vt:lpstr>
      <vt:lpstr>技术支柱</vt:lpstr>
      <vt:lpstr>深度学习  + 机器人</vt:lpstr>
      <vt:lpstr>应用一： 机器人感知（视觉）</vt:lpstr>
      <vt:lpstr>应用二： 抓取与操作</vt:lpstr>
      <vt:lpstr>应用三： 运动控制与导航</vt:lpstr>
      <vt:lpstr>挑战与展望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思诚 凌</dc:creator>
  <cp:lastModifiedBy>思诚 凌</cp:lastModifiedBy>
  <cp:revision>1</cp:revision>
  <dcterms:created xsi:type="dcterms:W3CDTF">2026-10-07T05:06:52Z</dcterms:created>
  <dcterms:modified xsi:type="dcterms:W3CDTF">2026-10-07T05:58:51Z</dcterms:modified>
</cp:coreProperties>
</file>